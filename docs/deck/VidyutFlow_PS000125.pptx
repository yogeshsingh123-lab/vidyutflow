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30-second opener: one flow that removes re-entry, manual routing and blind SLA firefighting — with honest AI that assists, never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PS points verbally. The 4-8h routing figure is a design-document planning assumption — label it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Emphasise: ML triages and explains; the officer decides. Core invariant.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grey dashed box FIRST: everything grey is honestly roadmap. API contracts stay stable while engines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'this is the live API — one credential set covers portal and API'. Screenshot placeholders to be filled by Utsav.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the demo step: airplane-mode → queue → sync → sync again. Then mention the restore drill as the data-permanence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honesty script VERBATIM from ML_REPORT.md. Safety guardrail escalates unknown danger phrasing conservatively.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challenged on localStorage JWT: 'documented prototype trade-off; production moves to HttpOnly cookies — listed in SECURITY.md'.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say 'accuracy is X for UGVCL'. Reproduce: make train (byte-identical metrics.json).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pre-empts 'did you cover our PS?'. Pull up REQUIREMENT_MAPPING.md if asked for any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to outcome 8/10 lives here: hardware and DR are a proposal, the software runs on Compose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measurement plan, not on claims. Q&amp;A sheet: docs/DEFENCE_QA.md — every member has a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E2E8F0"/>
                </a:solidFill>
              </a:defRPr>
            </a:pPr>
            <a:r>
              <a:t>VidyutFlow</a:t>
            </a:r>
          </a:p>
          <a:p>
            <a:pPr>
              <a:spcAft>
                <a:spcPts val="600"/>
              </a:spcAft>
              <a:defRPr sz="2400" b="1">
                <a:solidFill>
                  <a:srgbClr val="34D399"/>
                </a:solidFill>
              </a:defRPr>
            </a:pPr>
            <a:r>
              <a:t>Cloud-to-Edge Orchestration for Power Utilities</a:t>
            </a:r>
          </a:p>
          <a:p>
            <a:pPr>
              <a:spcAft>
                <a:spcPts val="600"/>
              </a:spcAft>
              <a:defRPr sz="2400" b="0">
                <a:solidFill>
                  <a:srgbClr val="E2E8F0"/>
                </a:solidFill>
              </a:defRPr>
            </a:pPr>
            <a:r>
              <a:t>“Enter Once, Use Everywhere”</a:t>
            </a:r>
          </a:p>
          <a:p>
            <a:pPr>
              <a:spcAft>
                <a:spcPts val="600"/>
              </a:spcAft>
              <a:defRPr sz="24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400" b="0">
                <a:solidFill>
                  <a:srgbClr val="94A3B8"/>
                </a:solidFill>
              </a:defRPr>
            </a:pPr>
            <a:r>
              <a:t>PS000125 · Future-Ready, Secure and Intelligent IT Infrastructure &amp;</a:t>
            </a:r>
          </a:p>
          <a:p>
            <a:pPr>
              <a:spcAft>
                <a:spcPts val="600"/>
              </a:spcAft>
              <a:defRPr sz="2400" b="0">
                <a:solidFill>
                  <a:srgbClr val="94A3B8"/>
                </a:solidFill>
              </a:defRPr>
            </a:pPr>
            <a:r>
              <a:t>User-Friendly ERP/Portal Ecosystem · Uttar Gujarat Vij Company Ltd (UGVCL)</a:t>
            </a:r>
          </a:p>
          <a:p>
            <a:pPr>
              <a:spcAft>
                <a:spcPts val="600"/>
              </a:spcAft>
              <a:defRPr sz="2400" b="0">
                <a:solidFill>
                  <a:srgbClr val="94A3B8"/>
                </a:solidFill>
              </a:defRPr>
            </a:pPr>
            <a:r>
              <a:t>Seva First Innovation Challenge · Team: Yogesh (Lead) · Utsav · Aakash · Sandip · Arnav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2E8F0"/>
                </a:solidFill>
              </a:defRPr>
            </a:pPr>
            <a:r>
              <a:t>The problem — PS000125 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2E8F0"/>
                </a:solidFill>
              </a:defRPr>
            </a:pPr>
            <a:r>
              <a:t>Same applicant details re-typed across ERP, portals and field systems</a:t>
            </a:r>
          </a:p>
          <a:p>
            <a:pPr>
              <a:spcAft>
                <a:spcPts val="600"/>
              </a:spcAft>
              <a:defRPr sz="1800" b="0">
                <a:solidFill>
                  <a:srgbClr val="E2E8F0"/>
                </a:solidFill>
              </a:defRPr>
            </a:pPr>
            <a:r>
              <a:t>Requests moved manually between desks — routing takes hours (planning assumption), files stall</a:t>
            </a:r>
          </a:p>
          <a:p>
            <a:pPr>
              <a:spcAft>
                <a:spcPts val="600"/>
              </a:spcAft>
              <a:defRPr sz="1800" b="0">
                <a:solidFill>
                  <a:srgbClr val="E2E8F0"/>
                </a:solidFill>
              </a:defRPr>
            </a:pPr>
            <a:r>
              <a:t>Field work stops without network; naive re-sync creates duplicates</a:t>
            </a:r>
          </a:p>
          <a:p>
            <a:pPr>
              <a:spcAft>
                <a:spcPts val="600"/>
              </a:spcAft>
              <a:defRPr sz="1800" b="0">
                <a:solidFill>
                  <a:srgbClr val="E2E8F0"/>
                </a:solidFill>
              </a:defRPr>
            </a:pPr>
            <a:r>
              <a:t>SLA breaches discovered after the deadline; consumers visit offices for status</a:t>
            </a:r>
          </a:p>
          <a:p>
            <a:pPr>
              <a:spcAft>
                <a:spcPts val="600"/>
              </a:spcAft>
              <a:defRPr sz="18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</a:defRPr>
            </a:pPr>
            <a:r>
              <a:t>PS points addressed head-on: 1, 2, 3, 4, 5, 8, 9, 11 (full map: REQUIREMENT_MAPPING.md)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2E8F0"/>
                </a:solidFill>
              </a:defRPr>
            </a:pPr>
            <a:r>
              <a:t>VidyutFlow — one click-and-get-work-done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4D399"/>
                </a:solidFill>
              </a:defRPr>
            </a:pPr>
            <a:r>
              <a:t>SUBMIT → VALIDATE → CLASSIFY (ML) → SLA-RISK (ML) → ROUTE &amp; ASSIGN → FIELD (offline) → DECIDE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Consumer submits once — the SAME record feeds officer queue, engineer task, admin KPIs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Rule validation + ML triage run automatically; SLA clock starts at submit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Field engineer works offline; sync is idempotent (each UUID accepted once)</a:t>
            </a:r>
          </a:p>
          <a:p>
            <a:pPr>
              <a:spcAft>
                <a:spcPts val="600"/>
              </a:spcAft>
              <a:defRPr sz="1700" b="1">
                <a:solidFill>
                  <a:srgbClr val="E2E8F0"/>
                </a:solidFill>
              </a:defRPr>
            </a:pPr>
            <a:r>
              <a:t>The officer approves/rejects — every action is audit-logged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2E8F0"/>
                </a:solidFill>
              </a:defRPr>
            </a:pPr>
            <a:r>
              <a:t>Architecture — built (color) vs roadmap (grey)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34440"/>
            <a:ext cx="9966960" cy="58033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2E8F0"/>
                </a:solidFill>
              </a:defRPr>
            </a:pPr>
            <a:r>
              <a:t>Workflow demo — the real backend, not mockups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1 · Consumer wizard submit → live API returns ML category/severity + SLA risk in the toast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2 · Officer Live Request Queue — real rows, auto-refresh 45s, SLA-risk reasons visible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3 · Management/Admin Live Workflow KPIs + SLA-Risk Watchlist (model output)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4 · Server-side alert centre: notifications on submit / status change / field sync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94A3B8"/>
                </a:solidFill>
              </a:defRPr>
            </a:pPr>
            <a:r>
              <a:t>Screenshots pack: Utsav (before video shoot) · live demo path: docs/DEMO_SCRIPT.md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2E8F0"/>
                </a:solidFill>
              </a:defRPr>
            </a:pPr>
            <a:r>
              <a:t>Offline sync &amp; de-duplication — plus backup/restore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Field PWA queues inspections with UUIDv4 keys while offline (airplane mode)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Sync is JWT-authenticated; the server accepts each UUID exactly once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Sync twice → duplicate:true, no second row (proven by regression test + demo)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34D399"/>
                </a:solidFill>
              </a:defRPr>
            </a:pPr>
            <a:r>
              <a:t>Backup → checksum verify → tamper-reject → wipe → restore → live-serve drill: PASS</a:t>
            </a:r>
          </a:p>
          <a:p>
            <a:pPr>
              <a:spcAft>
                <a:spcPts val="600"/>
              </a:spcAft>
              <a:defRPr sz="1700" b="0">
                <a:solidFill>
                  <a:srgbClr val="94A3B8"/>
                </a:solidFill>
              </a:defRPr>
            </a:pPr>
            <a:r>
              <a:t>Evidence: docs/verification/r4-backup-restore.txt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2E8F0"/>
                </a:solidFill>
              </a:defRPr>
            </a:pPr>
            <a:r>
              <a:t>AI — honest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Two small scikit-learn models: category/severity classifier + SLA-breach risk with REASONS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TF-IDF policy assistant over 3 policy extracts — answers cite sources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SLA-Risk Watchlist puts model output + reasons where officers act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F59E0B"/>
                </a:solidFill>
              </a:defRPr>
            </a:pPr>
            <a:r>
              <a:t>SYNTHETIC training data · triage probabilities, not verdicts · officer decides, always</a:t>
            </a:r>
          </a:p>
          <a:p>
            <a:pPr>
              <a:spcAft>
                <a:spcPts val="600"/>
              </a:spcAft>
              <a:defRPr sz="1700" b="0">
                <a:solidFill>
                  <a:srgbClr val="94A3B8"/>
                </a:solidFill>
              </a:defRPr>
            </a:pPr>
            <a:r>
              <a:t>30-second honesty script: docs/ML_REPORT.md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2E8F0"/>
                </a:solidFill>
              </a:defRPr>
            </a:pPr>
            <a:r>
              <a:t>Security — and practical 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JWT + RBAC + assignment/zone scoping (fail-closed) · bcrypt (72-byte safe) · CORS allowlist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Tamper-evident audit log: sha256 hash chain + admin verify endpoint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Login throttle (20/min/IP) · security headers · production guards reject dev secrets &amp; demo data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One credential set for portal + API; browser state grants nothing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94A3B8"/>
                </a:solidFill>
              </a:defRPr>
            </a:pPr>
            <a:r>
              <a:t>Known prototype gaps and their one-line defences: SECURITY.md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2E8F0"/>
                </a:solidFill>
              </a:defRPr>
            </a:pPr>
            <a:r>
              <a:t>Results — on SYNTHETIC data (labelled)</a:t>
            </a:r>
          </a:p>
        </p:txBody>
      </p:sp>
      <p:pic>
        <p:nvPicPr>
          <p:cNvPr id="3" name="Picture 2" descr="ml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669280" cy="2805174"/>
          </a:xfrm>
          <a:prstGeom prst="rect">
            <a:avLst/>
          </a:prstGeom>
        </p:spPr>
      </p:pic>
      <p:pic>
        <p:nvPicPr>
          <p:cNvPr id="4" name="Picture 3" descr="ml_risk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669280" cy="22482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206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2E8F0"/>
                </a:solidFill>
              </a:defRPr>
            </a:pPr>
            <a:r>
              <a:t>Category 0.733 vs 0.185 baseline · Severity 0.846 vs 0.328 · SLA 0.794 vs 0.625 (n=195/195/160)</a:t>
            </a:r>
          </a:p>
          <a:p>
            <a:pPr>
              <a:spcAft>
                <a:spcPts val="600"/>
              </a:spcAft>
              <a:defRPr sz="1300" b="0">
                <a:solidFill>
                  <a:srgbClr val="F59E0B"/>
                </a:solidFill>
              </a:defRPr>
            </a:pPr>
            <a:r>
              <a:t>Latency measured LOCAL, SYNTHETIC: p50 3.1 ms · p95 4.5 ms · 100 reads · 0 errors — not a UGVCL figure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2E8F0"/>
                </a:solidFill>
              </a:defRPr>
            </a:pPr>
            <a:r>
              <a:t>Requirement → solution map (PS000125)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4D399"/>
                </a:solidFill>
              </a:defRPr>
            </a:pPr>
            <a:r>
              <a:t>12 problem points: 7 fully built · 4 lite/partial · 1 proposal-only (hardware)</a:t>
            </a:r>
          </a:p>
          <a:p>
            <a:pPr>
              <a:spcAft>
                <a:spcPts val="600"/>
              </a:spcAft>
              <a:defRPr sz="1700" b="1">
                <a:solidFill>
                  <a:srgbClr val="34D399"/>
                </a:solidFill>
              </a:defRPr>
            </a:pPr>
            <a:r>
              <a:t>14 expected outcomes: 12 met · 1 measured-claim kept as target (productivity) · 1 hardware/DR as proposal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Every row has named evidence in REQUIREMENT_MAPPING.md (built / lite / roadmap)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We never claim a roadmap item as built — that rule is written into the repo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2E8F0"/>
                </a:solidFill>
              </a:defRPr>
            </a:pPr>
            <a:r>
              <a:t>Roadmap &amp; scale-up (contracts stay stable)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1. Legacy ERP adapters (billing/HR/SCADA wrappers) — first item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2. Kafka / Temporal orchestration · WebSockets · GraphQL + GIS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3. Flutter/Couchbase edge client · on-device inference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4. Fine-tuned LLM in VPC · Zero Trust · multi-AZ DR · Vault · WAF · SSO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  <a:r>
              <a:t>5. Hardware modernisation tiers — costed proposal (INFRASTRUCTURE_ROADMAP.md)</a:t>
            </a:r>
          </a:p>
          <a:p>
            <a:pPr>
              <a:spcAft>
                <a:spcPts val="600"/>
              </a:spcAft>
              <a:defRPr sz="16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94A3B8"/>
                </a:solidFill>
              </a:defRPr>
            </a:pPr>
            <a:r>
              <a:t>The frozen API contract (20 ops) lets engines change without touching the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2E8F0"/>
                </a:solidFill>
              </a:defRPr>
            </a:pPr>
            <a:r>
              <a:t>Team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R1 Backend &amp; Workflow — Yogesh (Lead) · R2 Frontend &amp; PWA — Utsav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R3 ML &amp; AI — Aakash · R4 DevOps/Security/QA — Sandip · R5 Docs &amp; Demo — Arnav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34D399"/>
                </a:solidFill>
              </a:defRPr>
            </a:pPr>
            <a:r>
              <a:t>Pilot plan: governed UGVCL data → retrain → re-baseline → before/after timing study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  <a:r>
              <a:t>That study is how outcome 13 (productivity) becomes a measured number</a:t>
            </a:r>
          </a:p>
          <a:p>
            <a:pPr>
              <a:spcAft>
                <a:spcPts val="600"/>
              </a:spcAft>
              <a:defRPr sz="1700" b="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E2E8F0"/>
                </a:solidFill>
              </a:defRPr>
            </a:pPr>
            <a:r>
              <a:t>Ask: approval for a scoped pilot on one subdivision's new-connection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