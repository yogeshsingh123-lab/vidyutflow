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30-second opener: non-invasive orchestration across citizen portal, field PWA, and simulated ERP adapters — AI advises, officers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PS000125 covers BOTH software orchestration AND IT infrastructure/DR/security.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Always state clearly in viva: the ERP gateway is OData v4-compatible and runs against a deterministic simulated in-repo target today — ready for UGVCL sandbox credentials, never claimed as live-integrated.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Vendor SKUs and datasheets documented in docs/INFRASTRUCTURE_BOM_SOURCES.md (Element14, Evelta, Dell R650xs, FortiGate 60F).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airplane mode -&gt; queue field inspection -&gt; reconnect -&gt; sync twice -&gt; prove idempotency.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in docs/verification/r4-cold-start-dr-proof.txt and r4-dr-failover-drill.txt.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explicit: 0.8824 is held-out synthetic templates; 0.9074 (49/54) is our team-authored zero-overlap OOD sanity-check set grounded in public GERC/CGRF terminology, not independent utility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Works 100% air-gapped without GEMINI_API_KEY.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verification endpoint: GET /v1/system/security-posture and tests/test_document_upload_validation.py.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Reproduce anytime via `make train`. Rolling runtime p50/p95/p99 latency is exposed live on GET /v1/system/performance.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 template at docs/ci.yml mirrors `make coverage`, `make train`, `make dr-proof`, and `make build`.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disciplined measurement and zero-disruption pilot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E2E8F0"/>
                </a:solidFill>
              </a:defRPr>
            </a:pPr>
            <a:r>
              <a:t>VidyutFlow</a:t>
            </a:r>
          </a:p>
          <a:p>
            <a:pPr>
              <a:spcAft>
                <a:spcPts val="600"/>
              </a:spcAft>
              <a:defRPr sz="2300" b="1">
                <a:solidFill>
                  <a:srgbClr val="34D399"/>
                </a:solidFill>
              </a:defRPr>
            </a:pPr>
            <a:r>
              <a:t>Cloud-to-Edge Orchestration, Predictive AI &amp; ERP Gateway for Power Utilities</a:t>
            </a:r>
          </a:p>
          <a:p>
            <a:pPr>
              <a:spcAft>
                <a:spcPts val="600"/>
              </a:spcAft>
              <a:defRPr sz="2300" b="0">
                <a:solidFill>
                  <a:srgbClr val="E2E8F0"/>
                </a:solidFill>
              </a:defRPr>
            </a:pPr>
            <a:r>
              <a:t>“Enter Once, Propagate Everywhere”</a:t>
            </a:r>
          </a:p>
          <a:p>
            <a:pPr>
              <a:spcAft>
                <a:spcPts val="600"/>
              </a:spcAft>
              <a:defRPr sz="23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2300" b="0">
                <a:solidFill>
                  <a:srgbClr val="94A3B8"/>
                </a:solidFill>
              </a:defRPr>
            </a:pPr>
            <a:r>
              <a:t>PS000125 · Future-Ready, Secure and Intelligent IT Infrastructure &amp;</a:t>
            </a:r>
          </a:p>
          <a:p>
            <a:pPr>
              <a:spcAft>
                <a:spcPts val="600"/>
              </a:spcAft>
              <a:defRPr sz="2300" b="0">
                <a:solidFill>
                  <a:srgbClr val="94A3B8"/>
                </a:solidFill>
              </a:defRPr>
            </a:pPr>
            <a:r>
              <a:t>User-Friendly ERP/Portal Ecosystem · Uttar Gujarat Vij Company Ltd (UGVCL)</a:t>
            </a:r>
          </a:p>
          <a:p>
            <a:pPr>
              <a:spcAft>
                <a:spcPts val="600"/>
              </a:spcAft>
              <a:defRPr sz="2300" b="0">
                <a:solidFill>
                  <a:srgbClr val="94A3B8"/>
                </a:solidFill>
              </a:defRPr>
            </a:pPr>
            <a:r>
              <a:t>Seva First Innovation Challenge · Team: Yogesh (Lead) · Utsav · Aakash · Sandip · Arnav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The problem — PS000125 operational silos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E2E8F0"/>
                </a:solidFill>
              </a:defRPr>
            </a:pPr>
            <a:r>
              <a:t>Disconnected Citizen Portal ↔ SAP Finance/IS-U ↔ e-Urja Billing ↔ 1912 Grievance CRM</a:t>
            </a:r>
          </a:p>
          <a:p>
            <a:pPr>
              <a:spcAft>
                <a:spcPts val="600"/>
              </a:spcAft>
              <a:defRPr sz="1700" b="0">
                <a:solidFill>
                  <a:srgbClr val="E2E8F0"/>
                </a:solidFill>
              </a:defRPr>
            </a:pPr>
            <a:r>
              <a:t>Applicant details re-keyed across desks; manual routing stalls files</a:t>
            </a:r>
          </a:p>
          <a:p>
            <a:pPr>
              <a:spcAft>
                <a:spcPts val="600"/>
              </a:spcAft>
              <a:defRPr sz="1700" b="0">
                <a:solidFill>
                  <a:srgbClr val="E2E8F0"/>
                </a:solidFill>
              </a:defRPr>
            </a:pPr>
            <a:r>
              <a:t>Rural North Gujarat 2G/4G dead-zones halt field inspections; naive retries duplicate records</a:t>
            </a:r>
          </a:p>
          <a:p>
            <a:pPr>
              <a:spcAft>
                <a:spcPts val="600"/>
              </a:spcAft>
              <a:defRPr sz="1700" b="0">
                <a:solidFill>
                  <a:srgbClr val="E2E8F0"/>
                </a:solidFill>
              </a:defRPr>
            </a:pPr>
            <a:r>
              <a:t>Reactive SLA breach discovery &amp; legacy infrastructure / DR / security gaps</a:t>
            </a:r>
          </a:p>
          <a:p>
            <a:pPr>
              <a:spcAft>
                <a:spcPts val="600"/>
              </a:spcAft>
              <a:defRPr sz="17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700" b="0">
                <a:solidFill>
                  <a:srgbClr val="94A3B8"/>
                </a:solidFill>
              </a:defRPr>
            </a:pPr>
            <a:r>
              <a:t>Full 12-point problem &amp; 14-outcome coverage matrix: docs/REQUIREMENT_MAPPING.md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Non-invasive ERP gateway (OData v4-compatible, simulated)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NEVER rips or replaces existing DISCOM core systems (replaces_existing_erp = False)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12 citizen fields entered once → 0 staff re-typed fields across workflow &amp; gateway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Simulated OData v4-compatible SAP S/4HANA IS-U adapter (/v1/erp/sap-odata/*)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3-system fan-out (/v1/erp/gateway/propagate/{id}) → simulated SAP + e-Urja CIS + 1912 CRM</a:t>
            </a:r>
          </a:p>
          <a:p>
            <a:pPr>
              <a:spcAft>
                <a:spcPts val="600"/>
              </a:spcAft>
              <a:defRPr sz="1600" b="1">
                <a:solidFill>
                  <a:srgbClr val="E2E8F0"/>
                </a:solidFill>
              </a:defRPr>
            </a:pPr>
            <a:r>
              <a:t>Master-data drift detection &amp; 1-click reconciliation (/v1/erp/reconcile)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Cloud-to-edge IT infrastructure &amp; costed BOM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88720"/>
            <a:ext cx="8778240" cy="51111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4D399"/>
                </a:solidFill>
              </a:defRPr>
            </a:pPr>
            <a:r>
              <a:t>Substation Edge: 500× RPi4 + Quectel EC200U-CN Dual-SIM 4G (₹8,000 × 500 = ₹40L) · MPLS + FortiGate 60F SD-WAN · Tiers: ₹14.80L / ₹1.18Cr / ₹7.45Cr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Multi-portal workflow &amp; idempotent offline field 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5 RBAC portals (Consumer, Field Engineer, Sub-Divisional Officer, Management, IT Admin)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4 languages (English, Gujarati, Hindi, Marathi) + 7 configurable utility workflows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Field PWA queues inspections offline in IndexedDB with UUIDv4 client_uuid keys</a:t>
            </a:r>
          </a:p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Replay-safe sync (/v1/requests/field-sync): duplicate replay returns duplicate:true, 0 extra rows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Server-side SLA alert engine (/v1/notifications/evaluate-alerts) + 1-click triage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Cold-start &lt;60s primary → hot-standby DR failover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E2E8F0"/>
                </a:solidFill>
              </a:defRPr>
            </a:pPr>
            <a:r>
              <a:t>Live API (POST /v1/system/dr-failover-drill) &amp; cold-start script (cold_start_dr_proof.py)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1 · Boot fresh DB &amp; submit live citizen request (zero manual container pre-setup)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2 · Replicate SHA-256 checksummed snapshot to isolated hot-standby vault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3 · Destroy primary DB → verify SHA-256 → promote standby → PRAGMA integrity_check = ok</a:t>
            </a:r>
          </a:p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Measured local SQLite RTO: ~3.5 ms (&lt; 60s target) · 0 records lost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5-model predictive AI suite — advisory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1 · Category Classifier (TF-IDF + LogReg): 0.8824 unseen-template synthetic · 0.9074 (49/54) team-authored OOD sanity check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2 · Severity + Deterministic Safety Guardrail: 0.8750 balanced · 100% CRITICAL safety recall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3 · Cost-Sensitive SLA Breach Predictor (RandomForest, thr=0.38): 0.8913 breach recall (0.8350 acc)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4 · Billing Anomaly Detector (IsolationForest + GERC RGPU slab verifier): 0.9511 acc / 1.00 recall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5 · 24h Feeder/DTR Load Forecaster (GradientBoostingRegressor): R² = 0.9790 (MAE 8.89 kVA)</a:t>
            </a:r>
          </a:p>
          <a:p>
            <a:pPr>
              <a:spcAft>
                <a:spcPts val="600"/>
              </a:spcAft>
              <a:defRPr sz="1500" b="1">
                <a:solidFill>
                  <a:srgbClr val="F59E0B"/>
                </a:solidFill>
              </a:defRPr>
            </a:pPr>
            <a:r>
              <a:t>SYNTHETIC training data · models advise, human officers approve (models_can_approve_or_reject = False)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Hybrid AI — local TF-IDF RAG + optional Gemini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Zero external LLM dependency for core triage, SLA risk, billing anomaly, or policy Q&amp;A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Backend /v1/assistant/chat: 100% local TF-IDF retrieval over policy docs + live zone-breach SQL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Portal /api/ai-chat: optional server-side Gemini (3,500 ms bound) → deterministic Grounded Engine fallback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Live AI Governance telemetry (/v1/assistant/ai-governance): drift, OOD load caps (&gt;100 kW), human sign-off count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Defense-in-depth cybersecurity &amp; encrypted KYC vault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Zero localStorage tokens: HttpOnly; SameSite=Strict session cookie + verified in-memory bridge</a:t>
            </a:r>
          </a:p>
          <a:p>
            <a:pPr>
              <a:spcAft>
                <a:spcPts val="600"/>
              </a:spcAft>
              <a:defRPr sz="1500" b="1">
                <a:solidFill>
                  <a:srgbClr val="34D399"/>
                </a:solidFill>
              </a:defRPr>
            </a:pPr>
            <a:r>
              <a:t>Strict upload verification: %PDF-, PNG, JPEG &amp; UTF-8 .txt magic-byte checks (blocks disguised EXEs)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Always-on VFENC1 HKDF-SHA256 + AES-256-GCM vault encryption (uploads_encrypted/) + field cipher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Fork-proof SHA-256 hash-chained AuditLog (AuditChainHead) + ArcSight/Wazuh CEF:0 SIEM export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CSP, HSTS, X-Frame-Options: DENY, 100% parameterized ORM queries &amp; 4-VLAN Zero-Trust design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ML evaluation charts — SYNTHETIC data (labelled)</a:t>
            </a:r>
          </a:p>
        </p:txBody>
      </p:sp>
      <p:pic>
        <p:nvPicPr>
          <p:cNvPr id="3" name="Picture 2" descr="ml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5669280" cy="2805174"/>
          </a:xfrm>
          <a:prstGeom prst="rect">
            <a:avLst/>
          </a:prstGeom>
        </p:spPr>
      </p:pic>
      <p:pic>
        <p:nvPicPr>
          <p:cNvPr id="4" name="Picture 3" descr="ml_risk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34440"/>
            <a:ext cx="5669280" cy="22482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1663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2E8F0"/>
                </a:solidFill>
              </a:defRPr>
            </a:pPr>
            <a:r>
              <a:t>Unseen-template synthetic: Category 0.8824 (vs 0.1667) · Severity 0.8750 · SLA 0.8350 acc / 0.8913 recall</a:t>
            </a:r>
          </a:p>
          <a:p>
            <a:pPr>
              <a:spcAft>
                <a:spcPts val="600"/>
              </a:spcAft>
              <a:defRPr sz="1300" b="0">
                <a:solidFill>
                  <a:srgbClr val="F59E0B"/>
                </a:solidFill>
              </a:defRPr>
            </a:pPr>
            <a:r>
              <a:t>Team-authored 54-item OOD sanity check (0 synthetic overlap): 0.9074 acc (49/54) · 100% CRITICAL recall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100% API test coverage &amp; phased UGVCL 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34D399"/>
                </a:solidFill>
              </a:defRPr>
            </a:pPr>
            <a:r>
              <a:t>124 backend pytest tests · 55 / 55 (100%) OpenAPI HTTP operations tested · 38 frontend test suites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Phase 1 — 1 Subdivision Pilot (₹14.80 Lakh): UGVCL sandbox OData credentials + governed historical ML retrain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Phase 2 — 1 Circle HA Deployment (₹1.18 Crore): PostgreSQL 16 streaming HA + 60 substation edge gateways</a:t>
            </a:r>
          </a:p>
          <a:p>
            <a:pPr>
              <a:spcAft>
                <a:spcPts val="600"/>
              </a:spcAft>
              <a:defRPr sz="1500" b="0">
                <a:solidFill>
                  <a:srgbClr val="E2E8F0"/>
                </a:solidFill>
              </a:defRPr>
            </a:pPr>
            <a:r>
              <a:t>Phase 3 — Full DISCOM Scale-Out (₹7.45 Crore): 4 Circles, 500× RPi4 4G edge nodes, active-passive DC/DR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E2E8F0"/>
                </a:solidFill>
              </a:defRPr>
            </a:pPr>
            <a:r>
              <a:t>Team ownership &amp; pilot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R1 Backend, Workflow &amp; ERP Gateway — Yogesh (Lead) · R2 Multilingual Portals &amp; Offline PWA — Utsav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  <a:r>
              <a:t>R3 5-Model ML Suite &amp; Policy RAG — Aakash · R4 Security, AES-256 Vault &amp; DR — Sandip · R5 Infra BOM &amp; QA — Arnav</a:t>
            </a:r>
          </a:p>
          <a:p>
            <a:pPr>
              <a:spcAft>
                <a:spcPts val="600"/>
              </a:spcAft>
              <a:defRPr sz="1600" b="0">
                <a:solidFill>
                  <a:srgbClr val="E2E8F0"/>
                </a:solidFill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Pilot ask: 1 UGVCL subdivision sandbox + anonymized historical tickets to re-baseline productivity &amp; SLA lift</a:t>
            </a:r>
          </a:p>
          <a:p>
            <a:pPr>
              <a:spcAft>
                <a:spcPts val="600"/>
              </a:spcAft>
              <a:defRPr sz="1600" b="0">
                <a:solidFill>
                  <a:srgbClr val="94A3B8"/>
                </a:solidFill>
              </a:defRPr>
            </a:pPr>
            <a:r>
              <a:t>Full defence Q&amp;A &amp; module walkthroughs: docs/DEFENCE_QA.md &amp; docs/TEAM_COMMIT_AND_VIVA_PLAN.md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